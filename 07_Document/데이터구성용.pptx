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" y="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37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4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89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70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5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379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2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7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585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260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43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9510C-4791-4107-83CD-AC401792C580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79A30-A15A-4DFC-B467-D42F1E9DB8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24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전처리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기능별 모듈 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모듈 설명 구성도를 표로 작성해줘</a:t>
            </a:r>
            <a:r>
              <a:rPr lang="en-US" altLang="ko-KR" dirty="0" smtClean="0"/>
              <a:t>. v1</a:t>
            </a:r>
            <a:r>
              <a:rPr lang="ko-KR" altLang="en-US" dirty="0" smtClean="0"/>
              <a:t>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195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687592"/>
              </p:ext>
            </p:extLst>
          </p:nvPr>
        </p:nvGraphicFramePr>
        <p:xfrm>
          <a:off x="312987" y="164611"/>
          <a:ext cx="11205097" cy="6484396"/>
        </p:xfrm>
        <a:graphic>
          <a:graphicData uri="http://schemas.openxmlformats.org/drawingml/2006/table">
            <a:tbl>
              <a:tblPr/>
              <a:tblGrid>
                <a:gridCol w="1635781">
                  <a:extLst>
                    <a:ext uri="{9D8B030D-6E8A-4147-A177-3AD203B41FA5}">
                      <a16:colId xmlns:a16="http://schemas.microsoft.com/office/drawing/2014/main" val="289517333"/>
                    </a:ext>
                  </a:extLst>
                </a:gridCol>
                <a:gridCol w="1918557">
                  <a:extLst>
                    <a:ext uri="{9D8B030D-6E8A-4147-A177-3AD203B41FA5}">
                      <a16:colId xmlns:a16="http://schemas.microsoft.com/office/drawing/2014/main" val="417279924"/>
                    </a:ext>
                  </a:extLst>
                </a:gridCol>
                <a:gridCol w="7650759">
                  <a:extLst>
                    <a:ext uri="{9D8B030D-6E8A-4147-A177-3AD203B41FA5}">
                      <a16:colId xmlns:a16="http://schemas.microsoft.com/office/drawing/2014/main" val="1770647878"/>
                    </a:ext>
                  </a:extLst>
                </a:gridCol>
              </a:tblGrid>
              <a:tr h="23777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기능 분류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모듈</a:t>
                      </a: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33815"/>
                  </a:ext>
                </a:extLst>
              </a:tr>
              <a:tr h="178736"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공통 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settings.disable_validate_slice_increment() 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모듈 최상단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dicom2nifti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의 슬라이스 간격 검증을 꺼서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PPMI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데이터 변환 실패 방지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718754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sys.stdout.reconfigure(line_buffering=True)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실행 로그를 파일로 리다이렉트해도 실시간으로 보이도록 라인 버퍼링 전환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681315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ensure_dir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경로가 없으면 재귀적으로 디렉토리 생성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779593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run_command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subprocess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 공통 래퍼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실패 시 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stderr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stdout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을 담아 예외 발생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1108279"/>
                  </a:ext>
                </a:extLst>
              </a:tr>
              <a:tr h="178736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우회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_wsl_available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현재 환경에서 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명령 사용 가능 여부 확인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204310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_to_wsl_path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Windows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드라이브 경로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(E:\...)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(/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mnt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/e/...)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변환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03585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_run_wsl_bash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내부에서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bash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명령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45440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run_via_wsl_clean_staging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네이티브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FSL/ANTs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가 없을 때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경유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공백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한글 없는 임시 경로로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스테이징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후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746297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_has_non_ascii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경로에 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-ASCII(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한글 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문자 포함 여부 확인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04919"/>
                  </a:ext>
                </a:extLst>
              </a:tr>
              <a:tr h="17873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_stage_ascii_in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ANTsPy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가 한글 경로에서 실패하는 문제를 피하려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ASCII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임시 경로로 복사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6629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DICOM→NIfTI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변환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convert_dicom_to_nifti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dicom2nifti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시리즈를 압축 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변환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70329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두개골 제거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BET)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run_skull_stripping_bet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FSL BET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네이티브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우선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없으면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경유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frac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임계값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조절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887885"/>
                  </a:ext>
                </a:extLst>
              </a:tr>
              <a:tr h="27622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정합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Registration)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run_registration_antspy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ANTsPy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ants.registration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type_of_transform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='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SyN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')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MNIPD25 PD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특화 아틀라스에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affine+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비선형 정합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63019"/>
                  </a:ext>
                </a:extLst>
              </a:tr>
              <a:tr h="3043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Bias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보정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N4)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run_n4_field_correction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 N4BiasFieldCorrection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 비활성이며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--enable-bias-correction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 때만 정규화 이후 단계에서 호출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249817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load_nifti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+ 3D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형상 검증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977466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normalize_minmax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뇌 영역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 아닌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복셀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기준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min-max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기본값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참고문헌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근거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877527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normalize_zscore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뇌 영역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z-score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+ [-5,5]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클리핑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옵션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참고문헌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방식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444640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NORMALIZATION_FUNCS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 방식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이름→함수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매핑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딕셔너리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(--normalization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인자로 선택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287385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리사이즈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resize_nifti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scipy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zoom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으로 목표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shape(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56x56x56)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리샘플링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affine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도 함께 조정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914158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리사이즈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augment_volume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회전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(±8°)·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플립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스케일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노이즈를 적용한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3D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239848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리사이즈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save_augmented_resized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 볼륨 생성 후 리사이즈까지 적용해 저장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33157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단일 샘플 파이프라인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건 →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BET → 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ANTsPy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정합 → 정규화 →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)N4 →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리사이즈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→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증강까지 전체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572485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단일 샘플 파이프라인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preprocess_one_from_nifti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위와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동일하되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대신 이미 변환된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raw 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에서 시작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015004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실행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탐색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find_dicom_series_dirs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루트 폴더를 순회해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dcm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파일이 있는 시리즈 폴더 전부 탐색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64067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실행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탐색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derive_output_name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폴더 경로에서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sub-{subject}_{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image_id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}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형식 출력 파일명 생성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44287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실행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탐색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루트 전체를 순회하며 </a:t>
                      </a:r>
                      <a:r>
                        <a:rPr lang="en-US" altLang="ko-KR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반복 실행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성공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실패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스킵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집계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373859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실행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탐색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run_batch_from_nifti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raw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폴더 전체를 순회하며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preprocess_one_from_nifti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반복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786652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로그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매니페스트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write_run_manifest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회 실행의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설정값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결과 요약을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JSON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으로 저장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덮어쓰지 않고 타임스탬프별 신규 파일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441048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로그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매니페스트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로그 작성부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run_batch/run_batch_from_nifti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내부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샘플별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처리 결과를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preprocessing_log_ref21order_*.csv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기록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503871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CLI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parse_shape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"56x56x56"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형식 문자열을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튜플로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788183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CLI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build_arg_parser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--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ppmi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-root, --atlas-path, --normalization, --enable-bias-correction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등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커맨드라인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인자 정의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950874"/>
                  </a:ext>
                </a:extLst>
              </a:tr>
              <a:tr h="1787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CLI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__main__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진입부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인자에 따라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또는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run_batch_from_nifti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7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008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816391"/>
              </p:ext>
            </p:extLst>
          </p:nvPr>
        </p:nvGraphicFramePr>
        <p:xfrm>
          <a:off x="338866" y="340466"/>
          <a:ext cx="11513827" cy="6060020"/>
        </p:xfrm>
        <a:graphic>
          <a:graphicData uri="http://schemas.openxmlformats.org/drawingml/2006/table">
            <a:tbl>
              <a:tblPr/>
              <a:tblGrid>
                <a:gridCol w="1438176">
                  <a:extLst>
                    <a:ext uri="{9D8B030D-6E8A-4147-A177-3AD203B41FA5}">
                      <a16:colId xmlns:a16="http://schemas.microsoft.com/office/drawing/2014/main" val="289517333"/>
                    </a:ext>
                  </a:extLst>
                </a:gridCol>
                <a:gridCol w="1975449">
                  <a:extLst>
                    <a:ext uri="{9D8B030D-6E8A-4147-A177-3AD203B41FA5}">
                      <a16:colId xmlns:a16="http://schemas.microsoft.com/office/drawing/2014/main" val="417279924"/>
                    </a:ext>
                  </a:extLst>
                </a:gridCol>
                <a:gridCol w="8100202">
                  <a:extLst>
                    <a:ext uri="{9D8B030D-6E8A-4147-A177-3AD203B41FA5}">
                      <a16:colId xmlns:a16="http://schemas.microsoft.com/office/drawing/2014/main" val="1770647878"/>
                    </a:ext>
                  </a:extLst>
                </a:gridCol>
              </a:tblGrid>
              <a:tr h="37129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기능 분류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모듈</a:t>
                      </a:r>
                      <a:r>
                        <a:rPr lang="en-US" altLang="ko-K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33815"/>
                  </a:ext>
                </a:extLst>
              </a:tr>
              <a:tr h="437338"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공통 </a:t>
                      </a: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settings.disable_validate_slice_increment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() 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모듈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최상단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dicom2nifti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의 슬라이스 간격 검증을 꺼서 </a:t>
                      </a:r>
                      <a:r>
                        <a:rPr lang="en-US" altLang="ko-K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PPMI </a:t>
                      </a:r>
                      <a:r>
                        <a:rPr lang="ko-KR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데이터 변환 실패 방지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718754"/>
                  </a:ext>
                </a:extLst>
              </a:tr>
              <a:tr h="43733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sys.stdout.reconfigure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line_buffering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=True)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실행 로그를 파일로 리다이렉트해도 </a:t>
                      </a:r>
                      <a:r>
                        <a:rPr lang="ko-KR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실시간으로 보이도록 라인 </a:t>
                      </a:r>
                      <a:r>
                        <a:rPr lang="ko-KR" altLang="en-US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버퍼링</a:t>
                      </a:r>
                      <a:r>
                        <a:rPr lang="ko-KR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전환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681315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ensure_dir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경로가 없으면 재귀적으로 디렉토리 생성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779593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run_command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subprocess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 공통 래퍼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실패 시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stderr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stdout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을 담아 예외 발생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1108279"/>
                  </a:ext>
                </a:extLst>
              </a:tr>
              <a:tr h="279106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WSL/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 </a:t>
                      </a: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우회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wsl_available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현재 환경에서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명령 사용 가능 여부 확인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204310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to_wsl_path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Windows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드라이브 경로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(E:\...)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(/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mnt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/e/...)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변환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03585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run_wsl_bash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내부에서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bash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명령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045440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run_via_wsl_clean_staging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네이티브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FSL/ANTs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가 없을 때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경유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공백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한글 없는 임시 경로로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스테이징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후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746297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has_non_ascii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경로에 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-ASCII(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한글 등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문자 포함 여부 확인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04919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stage_ascii_in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ANTsPy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가 한글 경로에서 실패하는 문제를 피하려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ASCII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임시 경로로 복사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6629"/>
                  </a:ext>
                </a:extLst>
              </a:tr>
              <a:tr h="2791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DICOM→NIfTI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변환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convert_dicom_to_nifti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dicom2nifti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en-US" altLang="ko-K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시리즈를 압축 </a:t>
                      </a:r>
                      <a:r>
                        <a:rPr lang="en-US" altLang="ko-KR" sz="12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ko-KR" alt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변환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70329"/>
                  </a:ext>
                </a:extLst>
              </a:tr>
              <a:tr h="27910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두개골 제거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BET)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run_skull_stripping_bet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FSL BET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네이티브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우선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없으면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WSL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경유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frac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파라미터로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임계값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조절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887885"/>
                  </a:ext>
                </a:extLst>
              </a:tr>
              <a:tr h="43134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정합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Registration)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run_registration_antspy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ANTsPy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ants.registration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type_of_transform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='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SyN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')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MNIPD25 PD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특화 아틀라스에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affine+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비선형 정합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63019"/>
                  </a:ext>
                </a:extLst>
              </a:tr>
              <a:tr h="4752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Bias 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보정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N4)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run_n4_field_correction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 N4BiasFieldCorrection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 비활성이며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--enable-bias-correction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일 때만 정규화 이후 단계에서 호출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249817"/>
                  </a:ext>
                </a:extLst>
              </a:tr>
              <a:tr h="279106"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load_nifti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+ 3D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형상 검증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977466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normalize_minmax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뇌 영역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(0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 아닌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복셀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기준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min-max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기본값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참고문헌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근거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877527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normalize_zscore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뇌 영역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z-score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+ [-5,5]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클리핑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옵션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참고문헌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방식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444640"/>
                  </a:ext>
                </a:extLst>
              </a:tr>
              <a:tr h="27910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NORMALIZATION_FUNCS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정규화 방식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이름→함수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매핑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딕셔너리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(--normalization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인자로 선택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287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0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176438"/>
              </p:ext>
            </p:extLst>
          </p:nvPr>
        </p:nvGraphicFramePr>
        <p:xfrm>
          <a:off x="345056" y="181389"/>
          <a:ext cx="11499012" cy="5942574"/>
        </p:xfrm>
        <a:graphic>
          <a:graphicData uri="http://schemas.openxmlformats.org/drawingml/2006/table">
            <a:tbl>
              <a:tblPr/>
              <a:tblGrid>
                <a:gridCol w="1621766">
                  <a:extLst>
                    <a:ext uri="{9D8B030D-6E8A-4147-A177-3AD203B41FA5}">
                      <a16:colId xmlns:a16="http://schemas.microsoft.com/office/drawing/2014/main" val="289517333"/>
                    </a:ext>
                  </a:extLst>
                </a:gridCol>
                <a:gridCol w="1984076">
                  <a:extLst>
                    <a:ext uri="{9D8B030D-6E8A-4147-A177-3AD203B41FA5}">
                      <a16:colId xmlns:a16="http://schemas.microsoft.com/office/drawing/2014/main" val="417279924"/>
                    </a:ext>
                  </a:extLst>
                </a:gridCol>
                <a:gridCol w="7893170">
                  <a:extLst>
                    <a:ext uri="{9D8B030D-6E8A-4147-A177-3AD203B41FA5}">
                      <a16:colId xmlns:a16="http://schemas.microsoft.com/office/drawing/2014/main" val="1770647878"/>
                    </a:ext>
                  </a:extLst>
                </a:gridCol>
              </a:tblGrid>
              <a:tr h="49728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기능 분류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모듈</a:t>
                      </a:r>
                      <a:r>
                        <a:rPr lang="en-US" altLang="ko-KR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33815"/>
                  </a:ext>
                </a:extLst>
              </a:tr>
              <a:tr h="37381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리사이즈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resize_nifti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scipy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zoom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으로 목표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shape(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기본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56x56x56)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리샘플링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affine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도 함께 조정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914158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augment_volume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회전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(±8°)·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플립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스케일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노이즈를 적용한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3D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239848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save_augmented_resized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 볼륨 생성 후 리사이즈까지 적용해 저장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1333157"/>
                  </a:ext>
                </a:extLst>
              </a:tr>
              <a:tr h="37381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단일 샘플 </a:t>
                      </a: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파이프라인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1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건 →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BET →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ANTsPy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정합 → 정규화 →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)N4 →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리사이즈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→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증강까지 전체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572485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preprocess_one_from_nifti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위와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동일하되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대신 이미 변환된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raw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에서 시작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015004"/>
                  </a:ext>
                </a:extLst>
              </a:tr>
              <a:tr h="37381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실행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탐색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find_dicom_series_dirs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루트 폴더를 순회해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dcm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파일이 있는 시리즈 폴더 전부 탐색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864067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derive_output_name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폴더 경로에서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sub-{subject}_{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image_id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}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형식 출력 파일명 생성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44287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루트 전체를 순회하며 </a:t>
                      </a:r>
                      <a:r>
                        <a:rPr lang="en-US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반복 실행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성공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스킵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집계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373859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run_batch_from_nifti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raw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NIfTI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폴더 전체를 순회하며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preprocess_one_from_nifti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반복 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786652"/>
                  </a:ext>
                </a:extLst>
              </a:tr>
              <a:tr h="37381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로그</a:t>
                      </a:r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매니페스트</a:t>
                      </a:r>
                      <a:endParaRPr lang="ko-KR" alt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write_run_manifest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배치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회 실행의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설정값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결과 요약을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JSON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으로 저장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덮어쓰지 않고 타임스탬프별 신규 파일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9441048"/>
                  </a:ext>
                </a:extLst>
              </a:tr>
              <a:tr h="585735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CSV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로그 작성부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run_batch/run_batch_from_nifti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내부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샘플별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처리 결과를 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preprocessing_log_ref21order_*.csv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로 기록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503871"/>
                  </a:ext>
                </a:extLst>
              </a:tr>
              <a:tr h="373812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CLI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parse_shape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"56x56x56"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형식 문자열을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튜플로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파싱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788183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build_arg_parser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--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ppmi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-root, --atlas-path, --normalization, --enable-bias-correction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등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커맨드라인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인자 정의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950874"/>
                  </a:ext>
                </a:extLst>
              </a:tr>
              <a:tr h="373812">
                <a:tc vMerge="1">
                  <a:txBody>
                    <a:bodyPr/>
                    <a:lstStyle/>
                    <a:p>
                      <a:pPr algn="l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__main__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진입부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인자에 따라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또는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run_batch_from_nifti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실행</a:t>
                      </a:r>
                    </a:p>
                  </a:txBody>
                  <a:tcPr marL="5746" marR="5746" marT="5746" marB="0" anchor="ctr">
                    <a:lnL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4B2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74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2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3D CNN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endParaRPr lang="en-US" altLang="ko-KR" dirty="0" smtClean="0"/>
          </a:p>
          <a:p>
            <a:pPr algn="l">
              <a:lnSpc>
                <a:spcPct val="120000"/>
              </a:lnSpc>
            </a:pPr>
            <a:r>
              <a:rPr lang="en-US" altLang="ko-KR" dirty="0" smtClean="0"/>
              <a:t>1. 3d </a:t>
            </a:r>
            <a:r>
              <a:rPr lang="en-US" altLang="ko-KR" dirty="0" err="1" smtClean="0"/>
              <a:t>cnn</a:t>
            </a:r>
            <a:r>
              <a:rPr lang="ko-KR" altLang="en-US" dirty="0" smtClean="0"/>
              <a:t>의  </a:t>
            </a:r>
            <a:r>
              <a:rPr lang="en-US" altLang="ko-KR" dirty="0" smtClean="0"/>
              <a:t>base, variant1, variant2, variant 3 </a:t>
            </a:r>
            <a:r>
              <a:rPr lang="ko-KR" altLang="en-US" dirty="0" err="1" smtClean="0"/>
              <a:t>에대한</a:t>
            </a:r>
            <a:r>
              <a:rPr lang="ko-KR" altLang="en-US" dirty="0" smtClean="0"/>
              <a:t>  소스코드로 전체 전처리 </a:t>
            </a:r>
            <a:r>
              <a:rPr lang="ko-KR" altLang="en-US" dirty="0" err="1" smtClean="0"/>
              <a:t>플로우차트를</a:t>
            </a:r>
            <a:r>
              <a:rPr lang="ko-KR" altLang="en-US" dirty="0" smtClean="0"/>
              <a:t> 이미지로 생성해줘</a:t>
            </a:r>
            <a:r>
              <a:rPr lang="en-US" altLang="ko-KR" dirty="0" smtClean="0"/>
              <a:t>.</a:t>
            </a:r>
          </a:p>
          <a:p>
            <a:pPr algn="l">
              <a:lnSpc>
                <a:spcPct val="120000"/>
              </a:lnSpc>
            </a:pPr>
            <a:r>
              <a:rPr lang="en-US" altLang="ko-KR" dirty="0" smtClean="0"/>
              <a:t>2. </a:t>
            </a:r>
            <a:r>
              <a:rPr lang="ko-KR" altLang="en-US" dirty="0" smtClean="0"/>
              <a:t>전체 </a:t>
            </a:r>
            <a:r>
              <a:rPr lang="en-US" altLang="ko-KR" dirty="0" smtClean="0"/>
              <a:t>3d </a:t>
            </a:r>
            <a:r>
              <a:rPr lang="en-US" altLang="ko-KR" dirty="0" err="1" smtClean="0"/>
              <a:t>cnn</a:t>
            </a:r>
            <a:r>
              <a:rPr lang="en-US" altLang="ko-KR" dirty="0" smtClean="0"/>
              <a:t> </a:t>
            </a:r>
            <a:r>
              <a:rPr lang="ko-KR" altLang="en-US" dirty="0" smtClean="0"/>
              <a:t>소스코드를 분석하여 기능과 기능 모듈에 대한 설명을 표로 작성해줘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2585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3D CNN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endParaRPr lang="en-US" altLang="ko-KR" dirty="0" smtClean="0"/>
          </a:p>
          <a:p>
            <a:pPr algn="l">
              <a:lnSpc>
                <a:spcPct val="120000"/>
              </a:lnSpc>
            </a:pPr>
            <a:r>
              <a:rPr lang="ko-KR" altLang="en-US" dirty="0" smtClean="0"/>
              <a:t>기능별 모듈 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모듈 설명 구성도를 표로 작성해줘</a:t>
            </a:r>
            <a:r>
              <a:rPr lang="en-US" altLang="ko-KR" dirty="0" smtClean="0"/>
              <a:t>. v1</a:t>
            </a:r>
            <a:r>
              <a:rPr lang="ko-KR" altLang="en-US" dirty="0" smtClean="0"/>
              <a:t>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59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57200" y="2077812"/>
            <a:ext cx="11790429" cy="5425432"/>
            <a:chOff x="1219199" y="2743200"/>
            <a:chExt cx="23580858" cy="10850864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9199" y="2743200"/>
              <a:ext cx="14709741" cy="8001000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1524000" y="4343400"/>
              <a:ext cx="13563600" cy="3810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/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1524000" y="8458200"/>
              <a:ext cx="13563600" cy="19812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/>
            </a:p>
          </p:txBody>
        </p:sp>
        <p:sp>
          <p:nvSpPr>
            <p:cNvPr id="5" name="오른쪽 화살표 4"/>
            <p:cNvSpPr/>
            <p:nvPr/>
          </p:nvSpPr>
          <p:spPr>
            <a:xfrm>
              <a:off x="14536205" y="8686800"/>
              <a:ext cx="1981200" cy="533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/>
            </a:p>
          </p:txBody>
        </p:sp>
        <p:sp>
          <p:nvSpPr>
            <p:cNvPr id="6" name="오른쪽 화살표 5"/>
            <p:cNvSpPr/>
            <p:nvPr/>
          </p:nvSpPr>
          <p:spPr>
            <a:xfrm>
              <a:off x="14536205" y="9576486"/>
              <a:ext cx="1981200" cy="533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/>
            </a:p>
          </p:txBody>
        </p:sp>
        <p:sp>
          <p:nvSpPr>
            <p:cNvPr id="7" name="오른쪽 화살표 6"/>
            <p:cNvSpPr/>
            <p:nvPr/>
          </p:nvSpPr>
          <p:spPr>
            <a:xfrm>
              <a:off x="14938340" y="5981700"/>
              <a:ext cx="1981200" cy="533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9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960731" y="3904208"/>
              <a:ext cx="7839326" cy="424731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3300" dirty="0"/>
                <a:t> </a:t>
              </a:r>
              <a:r>
                <a:rPr lang="ko-KR" altLang="en-US" sz="3300" dirty="0" err="1"/>
                <a:t>수정모델</a:t>
              </a:r>
              <a:endParaRPr lang="en-US" altLang="ko-KR" sz="3300" dirty="0"/>
            </a:p>
            <a:p>
              <a:r>
                <a:rPr lang="en-US" altLang="ko-KR" sz="3300" dirty="0"/>
                <a:t>Ablation_models.py</a:t>
              </a:r>
            </a:p>
            <a:p>
              <a:endParaRPr lang="en-US" altLang="ko-KR" sz="3300" dirty="0"/>
            </a:p>
            <a:p>
              <a:endParaRPr lang="ko-KR" altLang="en-US" sz="33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917481" y="8484974"/>
              <a:ext cx="7080516" cy="510909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4000" dirty="0"/>
                <a:t>models.py</a:t>
              </a:r>
            </a:p>
            <a:p>
              <a:r>
                <a:rPr lang="en-US" altLang="ko-KR" sz="4000" dirty="0"/>
                <a:t>Model-1(</a:t>
              </a:r>
              <a:r>
                <a:rPr lang="en-US" altLang="ko-KR" sz="4000" dirty="0" err="1"/>
                <a:t>cnn</a:t>
              </a:r>
              <a:r>
                <a:rPr lang="en-US" altLang="ko-KR" sz="4000" dirty="0"/>
                <a:t>)</a:t>
              </a:r>
            </a:p>
            <a:p>
              <a:r>
                <a:rPr lang="en-US" altLang="ko-KR" sz="4000" dirty="0"/>
                <a:t>Model-2(</a:t>
              </a:r>
              <a:r>
                <a:rPr lang="en-US" altLang="ko-KR" sz="4000" dirty="0" err="1"/>
                <a:t>resnet</a:t>
              </a:r>
              <a:r>
                <a:rPr lang="en-US" altLang="ko-KR" sz="4000" dirty="0"/>
                <a:t>)</a:t>
              </a:r>
              <a:endParaRPr lang="ko-KR" altLang="en-US" sz="40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60968" y="285750"/>
            <a:ext cx="1103093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700" dirty="0"/>
              <a:t>심층 </a:t>
            </a:r>
            <a:r>
              <a:rPr lang="en-US" altLang="ko-KR" sz="2700" dirty="0"/>
              <a:t>3d </a:t>
            </a:r>
            <a:r>
              <a:rPr lang="ko-KR" altLang="en-US" sz="2700" dirty="0" err="1"/>
              <a:t>중첩학습</a:t>
            </a:r>
            <a:r>
              <a:rPr lang="ko-KR" altLang="en-US" sz="2700" dirty="0"/>
              <a:t> 최적화 통한</a:t>
            </a:r>
            <a:endParaRPr lang="en-US" altLang="ko-KR" sz="2700" dirty="0"/>
          </a:p>
          <a:p>
            <a:r>
              <a:rPr lang="ko-KR" altLang="en-US" sz="2700" dirty="0"/>
              <a:t>파킨슨병 조기진단을 위한 생체</a:t>
            </a:r>
            <a:r>
              <a:rPr lang="en-US" altLang="ko-KR" sz="2700" dirty="0"/>
              <a:t>(</a:t>
            </a:r>
            <a:r>
              <a:rPr lang="en-US" altLang="ko-KR" sz="2700" dirty="0" err="1"/>
              <a:t>woa</a:t>
            </a:r>
            <a:r>
              <a:rPr lang="ko-KR" altLang="en-US" sz="2700" dirty="0" err="1"/>
              <a:t>고래최적화</a:t>
            </a:r>
            <a:r>
              <a:rPr lang="ko-KR" altLang="en-US" sz="2700" dirty="0"/>
              <a:t> </a:t>
            </a:r>
            <a:r>
              <a:rPr lang="ko-KR" altLang="en-US" sz="2700" dirty="0" err="1"/>
              <a:t>행동모방</a:t>
            </a:r>
            <a:r>
              <a:rPr lang="en-US" altLang="ko-KR" sz="2700" dirty="0"/>
              <a:t>)</a:t>
            </a:r>
          </a:p>
          <a:p>
            <a:r>
              <a:rPr lang="ko-KR" altLang="en-US" sz="2700" dirty="0"/>
              <a:t> 모방 특징 선택</a:t>
            </a:r>
            <a:endParaRPr lang="en-US" altLang="ko-KR" sz="2700" dirty="0"/>
          </a:p>
        </p:txBody>
      </p:sp>
    </p:spTree>
    <p:extLst>
      <p:ext uri="{BB962C8B-B14F-4D97-AF65-F5344CB8AC3E}">
        <p14:creationId xmlns:p14="http://schemas.microsoft.com/office/powerpoint/2010/main" val="170909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60968" y="285750"/>
            <a:ext cx="1103093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700" dirty="0"/>
              <a:t>심층 </a:t>
            </a:r>
            <a:r>
              <a:rPr lang="en-US" altLang="ko-KR" sz="2700" dirty="0"/>
              <a:t>3d </a:t>
            </a:r>
            <a:r>
              <a:rPr lang="ko-KR" altLang="en-US" sz="2700" dirty="0" err="1"/>
              <a:t>중첩학습</a:t>
            </a:r>
            <a:r>
              <a:rPr lang="ko-KR" altLang="en-US" sz="2700" dirty="0"/>
              <a:t> 최적화 통한</a:t>
            </a:r>
            <a:endParaRPr lang="en-US" altLang="ko-KR" sz="2700" dirty="0"/>
          </a:p>
          <a:p>
            <a:r>
              <a:rPr lang="ko-KR" altLang="en-US" sz="2700" dirty="0"/>
              <a:t>파킨슨병 조기진단을 위한 생체</a:t>
            </a:r>
            <a:r>
              <a:rPr lang="en-US" altLang="ko-KR" sz="2700" dirty="0"/>
              <a:t>(</a:t>
            </a:r>
            <a:r>
              <a:rPr lang="en-US" altLang="ko-KR" sz="2700" dirty="0" err="1"/>
              <a:t>woa</a:t>
            </a:r>
            <a:r>
              <a:rPr lang="ko-KR" altLang="en-US" sz="2700" dirty="0" err="1"/>
              <a:t>고래최적화</a:t>
            </a:r>
            <a:r>
              <a:rPr lang="ko-KR" altLang="en-US" sz="2700" dirty="0"/>
              <a:t> </a:t>
            </a:r>
            <a:r>
              <a:rPr lang="ko-KR" altLang="en-US" sz="2700" dirty="0" err="1"/>
              <a:t>행동모방</a:t>
            </a:r>
            <a:r>
              <a:rPr lang="en-US" altLang="ko-KR" sz="2700" dirty="0"/>
              <a:t>)</a:t>
            </a:r>
          </a:p>
          <a:p>
            <a:r>
              <a:rPr lang="ko-KR" altLang="en-US" sz="2700" dirty="0"/>
              <a:t> 모방 특징 선택</a:t>
            </a:r>
            <a:endParaRPr lang="en-US" altLang="ko-KR" sz="2700" dirty="0"/>
          </a:p>
        </p:txBody>
      </p:sp>
      <p:sp>
        <p:nvSpPr>
          <p:cNvPr id="13" name="TextBox 12"/>
          <p:cNvSpPr txBox="1"/>
          <p:nvPr/>
        </p:nvSpPr>
        <p:spPr>
          <a:xfrm>
            <a:off x="7086600" y="1866900"/>
            <a:ext cx="1044581" cy="31393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3300" dirty="0"/>
              <a:t>  </a:t>
            </a:r>
          </a:p>
          <a:p>
            <a:r>
              <a:rPr lang="en-US" altLang="ko-KR" sz="3300" dirty="0"/>
              <a:t> </a:t>
            </a:r>
            <a:r>
              <a:rPr lang="en-US" altLang="ko-KR" sz="3300" dirty="0" err="1"/>
              <a:t>cca</a:t>
            </a:r>
            <a:endParaRPr lang="en-US" altLang="ko-KR" sz="3300" dirty="0"/>
          </a:p>
          <a:p>
            <a:r>
              <a:rPr lang="en-US" altLang="ko-KR" sz="3300" dirty="0" err="1"/>
              <a:t>Woa</a:t>
            </a:r>
            <a:endParaRPr lang="en-US" altLang="ko-KR" sz="3300" dirty="0"/>
          </a:p>
          <a:p>
            <a:endParaRPr lang="en-US" altLang="ko-KR" sz="3300" dirty="0"/>
          </a:p>
          <a:p>
            <a:endParaRPr lang="en-US" altLang="ko-KR" sz="3300" dirty="0"/>
          </a:p>
          <a:p>
            <a:endParaRPr lang="ko-KR" altLang="en-US" sz="3300" dirty="0"/>
          </a:p>
        </p:txBody>
      </p:sp>
      <p:sp>
        <p:nvSpPr>
          <p:cNvPr id="14" name="TextBox 13"/>
          <p:cNvSpPr txBox="1"/>
          <p:nvPr/>
        </p:nvSpPr>
        <p:spPr>
          <a:xfrm>
            <a:off x="7086600" y="5248543"/>
            <a:ext cx="3540258" cy="132343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Ml</a:t>
            </a:r>
          </a:p>
          <a:p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92669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1354</TotalTime>
  <Words>1099</Words>
  <Application>Microsoft Office PowerPoint</Application>
  <PresentationFormat>와이드스크린</PresentationFormat>
  <Paragraphs>198</Paragraphs>
  <Slides>8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맑은 고딕</vt:lpstr>
      <vt:lpstr>Office 테마</vt:lpstr>
      <vt:lpstr>전처리 </vt:lpstr>
      <vt:lpstr>PowerPoint 프레젠테이션</vt:lpstr>
      <vt:lpstr>PowerPoint 프레젠테이션</vt:lpstr>
      <vt:lpstr>PowerPoint 프레젠테이션</vt:lpstr>
      <vt:lpstr>3D CNN </vt:lpstr>
      <vt:lpstr>3D CNN 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2026-07-23T04:13:19Z</dcterms:created>
  <dcterms:modified xsi:type="dcterms:W3CDTF">2026-07-24T02:47:41Z</dcterms:modified>
</cp:coreProperties>
</file>